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18872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600" b="1">
                <a:solidFill>
                  <a:srgbClr val="F8FAFC"/>
                </a:solidFill>
              </a:defRPr>
            </a:pPr>
            <a:r>
              <a:t>MOVIE RECOMMENDATION &amp;</a:t>
            </a:r>
            <a:br/>
            <a:r>
              <a:t>DISCOVERY SYSTEM</a:t>
            </a:r>
          </a:p>
          <a:p>
            <a:pPr>
              <a:defRPr sz="1500" i="1">
                <a:solidFill>
                  <a:srgbClr val="06B6D4"/>
                </a:solidFill>
              </a:defRPr>
            </a:pPr>
            <a:r>
              <a:t>A Hybrid Machine Learning Architecture utilizing TF-IDF, Collaborative Truncated SVD, and Deep ANN Classification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4297680"/>
            <a:ext cx="10332720" cy="1920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F59E0B"/>
                </a:solidFill>
              </a:defRPr>
            </a:pPr>
            <a:r>
              <a:t>Academic Capstone Project (TY B.Tech Computer Engineering | 2025-2026)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Student Name: Vivek Patil (Roll No: TY-COMP-054 | Seat No: B221054)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Project Guide: Ms. Pooja Panchal (Assistant Professor, Department of Computer Engineering)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Core Stack: Python 3.10+, Scikit-Learn, TensorFlow/Keras, Streamlit, SQLite3, Pytest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MOVIE RECOMMENDATION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8FAFC"/>
                </a:solidFill>
              </a:defRPr>
            </a:pPr>
            <a:r>
              <a:t>Project Overview &amp; Problem Statement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F59E0B"/>
                </a:solidFill>
              </a:defRPr>
            </a:pPr>
            <a:r>
              <a:t>The Information Overload Challenge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Streaming platforms host tens of thousands of movie titles.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Users suffer from 'Choice Paralysis' spending 20+ minutes browsing.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Pure Content-Based filtering causes severe genre over-specialization.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Pure Collaborative Filtering breaks on Cold-Start items &amp; sparse matrices.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10B981"/>
                </a:solidFill>
              </a:defRPr>
            </a:pPr>
            <a:r>
              <a:t>Our Proposed Hybrid Solution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Combines Content-Based TF-IDF + Collaborative SVD + Deep ANN Classifier.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Provides robust Cold-Start fallback using metadata cosine similarity.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Reduces matrix sparsity using Truncated SVD (k=32 latent dimensions).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Interactive Streamlit web app with taste radar profiles &amp; 100% test coverage.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MOVIE RECOMMENDATION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8FAFC"/>
                </a:solidFill>
              </a:defRPr>
            </a:pPr>
            <a:r>
              <a:t>Key Project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3B82F6"/>
                </a:solidFill>
              </a:defRPr>
            </a:pPr>
            <a:r>
              <a:t>1. Multi-Engine ML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Develop TF-IDF similarity over metadata soups (cast, crew, genre).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Perform low-rank SVD decomposition for rating prediction.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Train 3-layer Keras ANN for binary preference likelihood.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06B6D4"/>
                </a:solidFill>
              </a:defRPr>
            </a:pPr>
            <a:r>
              <a:t>2. Interactive UI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Build modern Streamlit web dashboard with movie cards.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Live search, genre filtering &amp; release year sliders.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Personal Taste Profile radar charts &amp; watchlist management.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F59E0B"/>
                </a:solidFill>
              </a:defRPr>
            </a:pPr>
            <a:r>
              <a:t>3. Reliability &amp; Testing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Implement 83 automated unit &amp; integration tests in Pytest.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Validate mathematical symmetry of similarity metrics.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Achieve 87.8% classification accuracy and 0.932 AUC-ROC.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MOVIE RECOMMENDATION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8FAFC"/>
                </a:solidFill>
              </a:defRPr>
            </a:pPr>
            <a:r>
              <a:t>High-Level 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3B82F6"/>
                </a:solidFill>
              </a:defRPr>
            </a:pPr>
            <a:r>
              <a:t>Frontend &amp; Interaction Layer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Streamlit Reactive UI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Vanilla CSS Glassmorphism styling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Movie Poster CDN Integration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Live Genre Radar Charts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1-to-5 Star Interactive Ratings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06B6D4"/>
                </a:solidFill>
              </a:defRPr>
            </a:pPr>
            <a:r>
              <a:t>ML &amp; Neural Inference Engine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TF-IDF Vectorizer &amp; Cosine Math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Truncated SVD (32 Latent Factors)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3-Layer Keras Neural Network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Logistic Regression &amp; Random Forest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Hybrid Ranker &amp; Diversity Filter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10B981"/>
                </a:solidFill>
              </a:defRPr>
            </a:pPr>
            <a:r>
              <a:t>Data &amp; Persistence Layer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SQLite Relational Database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Users, Ratings &amp; Watchlist Tables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TMDB 10,000+ Film Metadata CSV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Pickled Pre-computed Vectors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Saved Keras HDF5 Model Weights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MOVIE RECOMMENDATION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8FAFC"/>
                </a:solidFill>
              </a:defRPr>
            </a:pPr>
            <a:r>
              <a:t>Data Flow Diagram (DFD) - Level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94A3B8"/>
                </a:solidFill>
              </a:defRPr>
            </a:pPr>
            <a:r>
              <a:t>Context Level Diagram showing external entities and straight horizontal/orthogonal data flows.</a:t>
            </a:r>
          </a:p>
        </p:txBody>
      </p:sp>
      <p:pic>
        <p:nvPicPr>
          <p:cNvPr id="5" name="Picture 4" descr="DFD_Level_0_Movie_Recommendation_Syst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1604" y="1554479"/>
            <a:ext cx="7648485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MOVIE RECOMMENDATION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8FAFC"/>
                </a:solidFill>
              </a:defRPr>
            </a:pPr>
            <a:r>
              <a:t>Data Flow Diagram (DFD) - Level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94A3B8"/>
                </a:solidFill>
              </a:defRPr>
            </a:pPr>
            <a:r>
              <a:t>Functional Decomposition into 5 core processes and 4 Gane-Sarson relational data stores.</a:t>
            </a:r>
          </a:p>
        </p:txBody>
      </p:sp>
      <p:pic>
        <p:nvPicPr>
          <p:cNvPr id="5" name="Picture 4" descr="DFD_Level_1_Movie_Recommendation_Syst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9968" y="1554479"/>
            <a:ext cx="6591759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MOVIE RECOMMENDATION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8FAFC"/>
                </a:solidFill>
              </a:defRPr>
            </a:pPr>
            <a:r>
              <a:t>Data Flow Diagram (DFD) - Level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94A3B8"/>
                </a:solidFill>
              </a:defRPr>
            </a:pPr>
            <a:r>
              <a:t>Detailed decomposition of Process 3.0: Hybrid Recommendation &amp; Deep ML Pipeline.</a:t>
            </a:r>
          </a:p>
        </p:txBody>
      </p:sp>
      <p:pic>
        <p:nvPicPr>
          <p:cNvPr id="5" name="Picture 4" descr="DFD_Level_2_Movie_Recommendation_Syst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1355" y="1554479"/>
            <a:ext cx="7328984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MOVIE RECOMMENDATION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8FAFC"/>
                </a:solidFill>
              </a:defRPr>
            </a:pPr>
            <a:r>
              <a:t>Entity-Relationship (ER)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94A3B8"/>
                </a:solidFill>
              </a:defRPr>
            </a:pPr>
            <a:r>
              <a:t>Academic Relational Table Card Model | Solid Underline: Primary Key | Dashed Underline: Foreign Key | No PK/FK text.</a:t>
            </a:r>
          </a:p>
        </p:txBody>
      </p:sp>
      <p:pic>
        <p:nvPicPr>
          <p:cNvPr id="5" name="Picture 4" descr="ER_Diagram_Movie_Recommendation_Syst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4164" y="1554479"/>
            <a:ext cx="7203366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MOVIE RECOMMENDATION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8FAFC"/>
                </a:solidFill>
              </a:defRPr>
            </a:pPr>
            <a:r>
              <a:t>Use Case Diagram (Standard UML 2.0)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94A3B8"/>
                </a:solidFill>
              </a:defRPr>
            </a:pPr>
            <a:r>
              <a:t>System boundary modeling user &amp; administrator capabilities with «include» and «extend» relationships.</a:t>
            </a:r>
          </a:p>
        </p:txBody>
      </p:sp>
      <p:pic>
        <p:nvPicPr>
          <p:cNvPr id="5" name="Picture 4" descr="Use_Case_Diagram_Movie_Recommendation_Syst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1541" y="1554479"/>
            <a:ext cx="6968612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MOVIE RECOMMENDATION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8FAFC"/>
                </a:solidFill>
              </a:defRPr>
            </a:pPr>
            <a:r>
              <a:t>Algorithm 1: Content-Based Filtering with TF-IDF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3B82F6"/>
                </a:solidFill>
              </a:defRPr>
            </a:pPr>
            <a:r>
              <a:t>Metadata Synthesis &amp; Tokenization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Synthesizes multi-attribute 'Metadata Soup':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Overview + Genres + Cast (Top 3) + Director + Keywords.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Term Frequency - Inverse Document Frequency (TF-IDF):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Downweights common terms and emphasizes salient character/genre tokens.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Computes high-dimensional sparse item vectors.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06B6D4"/>
                </a:solidFill>
              </a:defRPr>
            </a:pPr>
            <a:r>
              <a:t>Cosine Similarity Metric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Measures directional cosine angle between item vectors: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Cosine_Sim(A, B) = (A • B) / (||A|| * ||B||)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Values strictly bound between 0.0 (orthogonal) and 1.0 (identical).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Sub-millisecond retrieval of Top-10 nearest neighbor titles.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Serves as the primary cold-start fallback when ratings are absent.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MOVIE RECOMMENDATION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8FAFC"/>
                </a:solidFill>
              </a:defRPr>
            </a:pPr>
            <a:r>
              <a:t>Algorithm 2: Collaborative Truncated SVD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F59E0B"/>
                </a:solidFill>
              </a:defRPr>
            </a:pPr>
            <a:r>
              <a:t>Matrix Factorization Mathematics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Decomposes sparse user-item interaction matrix R (m x n):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R ≈ U * Σ * V^T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U (m x k): Latent user preference embeddings.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Σ (k x k): Singular values indicating latent dimension weight.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V^T (k x n): Latent movie feature coordinate embeddings.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Reduces dimensionality to k = 32 dense latent factors.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10B981"/>
                </a:solidFill>
              </a:defRPr>
            </a:pPr>
            <a:r>
              <a:t>Latent Rating Prediction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Predicts unseen rating: r_hat(u, i) = mu + b_u + b_i + (U_u • V_i)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Uncovers hidden semantic genres without manual tagging.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Evaluated on test ratings: Achieves RMSE = 0.874 stars.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Outperforms classical neighborhood-based k-NN collaborative methods.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MOVIE RECOMMENDATION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8FAFC"/>
                </a:solidFill>
              </a:defRPr>
            </a:pPr>
            <a:r>
              <a:t>Algorithm 3: Deep Learning ANN Likelihood Classifier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3B82F6"/>
                </a:solidFill>
              </a:defRPr>
            </a:pPr>
            <a:r>
              <a:t>Neural Network Architecture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Input Layer: 82 Dimensions (User Latent + Movie Vector + Genres).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Dense Hidden Layer 1: 128 Neurons + ReLU + Dropout(0.3) + BatchNorm.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Dense Hidden Layer 2: 64 Neurons + ReLU + Dropout(0.2) + BatchNorm.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Dense Hidden Layer 3: 32 Neurons + ReLU.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Output Layer: 1 Neuron + Sigmoid activation for binary affinity P(Like).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06B6D4"/>
                </a:solidFill>
              </a:defRPr>
            </a:pPr>
            <a:r>
              <a:t>Optimization &amp; Regularization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Loss Function: Binary Cross-Entropy.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Optimizer: Adam with learning rate α = 0.001.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Regularization: Dropout &amp; Batch Normalization prevent overfitting.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Convergence: Stabilizes within 25 epochs with loss decreasing to 0.312.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MOVIE RECOMMENDATION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8FAFC"/>
                </a:solidFill>
              </a:defRPr>
            </a:pPr>
            <a:r>
              <a:t>ANN Training &amp; Validation Convergence Curves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94A3B8"/>
                </a:solidFill>
              </a:defRPr>
            </a:pPr>
            <a:r>
              <a:t>Training vs Validation Loss and Accuracy showing smooth convergence without overfitting.</a:t>
            </a:r>
          </a:p>
        </p:txBody>
      </p:sp>
      <p:pic>
        <p:nvPicPr>
          <p:cNvPr id="5" name="Picture 4" descr="ann_training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7" y="2499360"/>
            <a:ext cx="10058400" cy="26822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MOVIE RECOMMENDATION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8FAFC"/>
                </a:solidFill>
              </a:defRPr>
            </a:pPr>
            <a:r>
              <a:t>Receiver Operating Characteristic (ROC) Curve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94A3B8"/>
                </a:solidFill>
              </a:defRPr>
            </a:pPr>
            <a:r>
              <a:t>ANN Classifier achieves an exceptional Area Under the Curve (AUC = 0.932).</a:t>
            </a:r>
          </a:p>
        </p:txBody>
      </p:sp>
      <p:pic>
        <p:nvPicPr>
          <p:cNvPr id="5" name="Picture 4" descr="roc_an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647" y="1554479"/>
            <a:ext cx="54864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MOVIE RECOMMENDATION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8FAFC"/>
                </a:solidFill>
              </a:defRPr>
            </a:pPr>
            <a:r>
              <a:t>Model Performance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94A3B8"/>
                </a:solidFill>
              </a:defRPr>
            </a:pPr>
            <a:r>
              <a:t>Benchmark across Logistic Regression, Random Forest, and Deep Neural Network (ANN).</a:t>
            </a:r>
          </a:p>
        </p:txBody>
      </p:sp>
      <p:pic>
        <p:nvPicPr>
          <p:cNvPr id="5" name="Picture 4" descr="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847" y="1554479"/>
            <a:ext cx="9144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WEB UI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8FAFC"/>
                </a:solidFill>
              </a:defRPr>
            </a:pPr>
            <a:r>
              <a:t>UI Screen: User Registration &amp; Onboarding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411480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06B6D4"/>
                </a:solidFill>
              </a:defRPr>
            </a:pPr>
            <a:r>
              <a:t>Key Features &amp; Architecture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Clean user onboarding interface.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Alphanumeric username &amp; email validation.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Cryptographic password hashing (SHA-256/PBKDF2).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Immediate redirection to login upon creation.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Prevents duplicate account collisions.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74920" y="2346303"/>
            <a:ext cx="6309359" cy="3079793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ovie recomendation system Registration 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2392023"/>
            <a:ext cx="6217920" cy="298835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WEB UI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8FAFC"/>
                </a:solidFill>
              </a:defRPr>
            </a:pPr>
            <a:r>
              <a:t>UI Screen: User Authentication &amp; Login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411480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06B6D4"/>
                </a:solidFill>
              </a:defRPr>
            </a:pPr>
            <a:r>
              <a:t>Key Features &amp; Architecture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Secure credential authentication view.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Session token initialization in Streamlit.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Maintains persistent user state.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Clear error alerts for invalid credentials.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Seamless redirect to Movie Explorer.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74920" y="2572798"/>
            <a:ext cx="6309359" cy="2626803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ovie recomandation system login page after regi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2618518"/>
            <a:ext cx="6217920" cy="253536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WEB UI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8FAFC"/>
                </a:solidFill>
              </a:defRPr>
            </a:pPr>
            <a:r>
              <a:t>UI Screen: Movie Explorer Dashboard &amp; Hero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411480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06B6D4"/>
                </a:solidFill>
              </a:defRPr>
            </a:pPr>
            <a:r>
              <a:t>Key Features &amp; Architecture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High-impact cinematic hero banner.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Real-time catalog exploration (10,000+ films).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Dynamic TMDB/OMDb poster image streaming.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Genre navigation pills for quick filtering.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Fluid responsive glassmorphism card styling.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74920" y="1944666"/>
            <a:ext cx="6309359" cy="3883066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ovierecomendation dashboard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990386"/>
            <a:ext cx="6217920" cy="379162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WEB UI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8FAFC"/>
                </a:solidFill>
              </a:defRPr>
            </a:pPr>
            <a:r>
              <a:t>UI Screen: Multi-Attribute Search &amp; Cards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411480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06B6D4"/>
                </a:solidFill>
              </a:defRPr>
            </a:pPr>
            <a:r>
              <a:t>Key Features &amp; Architecture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Sidebar sliders for release year &amp; score.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Live text search across titles &amp; overviews.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Interactive 1-to-5 star rating submission.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Instant watchlist bookmarking toggles.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Detailed movie plot synopses tooltip.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74920" y="2462325"/>
            <a:ext cx="6309359" cy="284774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ovierecomandation dashboard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2508045"/>
            <a:ext cx="6217920" cy="275630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WEB UI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8FAFC"/>
                </a:solidFill>
              </a:defRPr>
            </a:pPr>
            <a:r>
              <a:t>UI Screen: Multi-Engine Recommendations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411480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06B6D4"/>
                </a:solidFill>
              </a:defRPr>
            </a:pPr>
            <a:r>
              <a:t>Key Features &amp; Architecture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Multi-model toggle: Content, SVD, ANN.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Top-N ranked movie grid layout.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Predicted user rating score overlays.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Detailed similarity explanation badges.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Sub-15ms real-time inference latency.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74920" y="1923545"/>
            <a:ext cx="6309359" cy="3925309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ovie recommendation system recommandation 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969265"/>
            <a:ext cx="6217920" cy="3833869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WEB UI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8FAFC"/>
                </a:solidFill>
              </a:defRPr>
            </a:pPr>
            <a:r>
              <a:t>UI Screen: Taste Radar &amp; Rating Management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411480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06B6D4"/>
                </a:solidFill>
              </a:defRPr>
            </a:pPr>
            <a:r>
              <a:t>Key Features &amp; Architecture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Plotly Genre Radar Chart visualization.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Diagnostic user preference quantification.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Complete CRUD table for previous ratings.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Instant star rating update and deletion.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Active personal watchlist inspection.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74920" y="2516820"/>
            <a:ext cx="6309359" cy="2738759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ovie recomandation profile preview and and crud op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2562540"/>
            <a:ext cx="6217920" cy="2647319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MOVIE RECOMMENDATION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8FAFC"/>
                </a:solidFill>
              </a:defRPr>
            </a:pPr>
            <a:r>
              <a:t>Testing &amp; Software Quality Assurance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10B981"/>
                </a:solidFill>
              </a:defRPr>
            </a:pPr>
            <a:r>
              <a:t>Unit Testing (Pytest)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83/83 Automated Tests Passing (100%).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Validates Cosine Similarity symmetry.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Validates SVD Latent dimension bounds.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Ensures TF-IDF vocabulary integrity.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3B82F6"/>
                </a:solidFill>
              </a:defRPr>
            </a:pPr>
            <a:r>
              <a:t>Integration Testing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Verifies Streamlit view navigation.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Tests SQLite user authentication &amp; sessions.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Validates rating update transactions.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Checks watchlist persistence.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F59E0B"/>
                </a:solidFill>
              </a:defRPr>
            </a:pPr>
            <a:r>
              <a:t>Edge Case &amp; Security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Tested cold-start empty profile queries.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Handled missing movie poster CDN endpoints.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Protected against SQL injection vulnerabilities.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Safe type casting across rating matrices.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MOVIE RECOMMENDATION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8FAFC"/>
                </a:solidFill>
              </a:defRPr>
            </a:pPr>
            <a:r>
              <a:t>Conclusion &amp; Future Enhancements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3B82F6"/>
                </a:solidFill>
              </a:defRPr>
            </a:pPr>
            <a:r>
              <a:t>Conclusion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Successfully built a production-ready Movie Recommendation System.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Overcame the cold-start and sparsity limitations of traditional recommenders.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Created an academic-grade architecture with complete DFD, ER, and UML modeling.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Delivered an intuitive, interactive streaming-grade web user experience.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F59E0B"/>
                </a:solidFill>
              </a:defRPr>
            </a:pPr>
            <a:r>
              <a:t>Future Scope &amp; Roadmap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Graph Neural Networks: Implement GCNs over knowledge graphs of cinematic franchises.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Real-time Telemetry: Adjust recommendations based on trailer dwell time and clicks.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Cross-Domain Expansion: Extend recommendation engine to TV series, anime, and podcasts.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  <a:defRPr sz="4400" b="1">
                <a:solidFill>
                  <a:srgbClr val="F8FAFC"/>
                </a:solidFill>
              </a:defRPr>
            </a:pPr>
            <a:r>
              <a:t>THANK YOU!</a:t>
            </a:r>
          </a:p>
          <a:p>
            <a:pPr algn="ctr">
              <a:defRPr sz="1800" i="1">
                <a:solidFill>
                  <a:srgbClr val="06B6D4"/>
                </a:solidFill>
              </a:defRPr>
            </a:pPr>
            <a:r>
              <a:t>Questions &amp; Feedback Welcome</a:t>
            </a:r>
            <a:br/>
            <a:r>
              <a:t>Movie Recommendation &amp; Discovery 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